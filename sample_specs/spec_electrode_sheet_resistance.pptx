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914400"/>
            <a:ext cx="73152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latin typeface="맑은 고딕"/>
              </a:defRPr>
            </a:pPr>
            <a:r>
              <a:t>전극 면저항(Sheet Resistance) 검사 설비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560320"/>
            <a:ext cx="7315200" cy="3200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latin typeface="맑은 고딕"/>
              </a:defRPr>
            </a:pPr>
            <a:r>
              <a:t>[개요]</a:t>
            </a:r>
            <a:br/>
            <a:r>
              <a:t>4-Point Probe 방식으로 전극 표면의 면저항을 비접촉/접촉 방식으로 측정하여 도전재 분산 불량, 압연 불균일 등에 의한 전기적 품질 이상을 검출하는 설비입니다.</a:t>
            </a:r>
          </a:p>
          <a:p>
            <a:pPr>
              <a:defRPr sz="1400">
                <a:latin typeface="맑은 고딕"/>
              </a:defRPr>
            </a:pPr>
            <a:br/>
            <a:r>
              <a:t>[처리 용량/성능]</a:t>
            </a:r>
            <a:br/>
            <a:r>
              <a:t>라인 속도 40m/min 연동 인라인 검사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4572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/>
            </a:pPr>
            <a:r>
              <a:t>상세 기술 사양서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914400" y="1645920"/>
          <a:ext cx="7315200" cy="411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8800"/>
                <a:gridCol w="1828800"/>
                <a:gridCol w="1828800"/>
                <a:gridCol w="1828800"/>
              </a:tblGrid>
              <a:tr h="2057400">
                <a:tc>
                  <a:txBody>
                    <a:bodyPr/>
                    <a:lstStyle/>
                    <a:p>
                      <a:r>
                        <a:t>구분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항목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사양값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비고</a:t>
                      </a:r>
                    </a:p>
                  </a:txBody>
                  <a:tcPr/>
                </a:tc>
              </a:tr>
              <a:tr h="2057400">
                <a:tc>
                  <a:txBody>
                    <a:bodyPr/>
                    <a:lstStyle/>
                    <a:p>
                      <a:pPr algn="ctr">
                        <a:defRPr sz="1100">
                          <a:latin typeface="맑은 고딕"/>
                        </a:defRPr>
                      </a:pPr>
                      <a:r>
                        <a:t>전기/전력</a:t>
                      </a:r>
                    </a:p>
                  </a:txBody>
                  <a:tcPr marL="45720" marR="45720"/>
                </a:tc>
                <a:tc>
                  <a:txBody>
                    <a:bodyPr/>
                    <a:lstStyle/>
                    <a:p>
                      <a:pPr>
                        <a:defRPr sz="1100">
                          <a:latin typeface="맑은 고딕"/>
                        </a:defRPr>
                      </a:pPr>
                      <a:r>
                        <a:t>정격 전압</a:t>
                      </a:r>
                    </a:p>
                  </a:txBody>
                  <a:tcPr marL="45720" marR="45720"/>
                </a:tc>
                <a:tc>
                  <a:txBody>
                    <a:bodyPr/>
                    <a:lstStyle/>
                    <a:p>
                      <a:pPr>
                        <a:defRPr sz="1100">
                          <a:latin typeface="맑은 고딕"/>
                        </a:defRPr>
                      </a:pPr>
                      <a:r>
                        <a:t>단상 220V 60Hz</a:t>
                      </a:r>
                    </a:p>
                  </a:txBody>
                  <a:tcPr marL="45720" marR="45720"/>
                </a:tc>
                <a:tc>
                  <a:txBody>
                    <a:bodyPr/>
                    <a:lstStyle/>
                    <a:p>
                      <a:pPr>
                        <a:defRPr sz="1100">
                          <a:latin typeface="맑은 고딕"/>
                        </a:defRPr>
                      </a:pPr>
                      <a:r>
                        <a:t>정밀 전류원 내장</a:t>
                      </a:r>
                    </a:p>
                  </a:txBody>
                  <a:tcPr marL="45720" marR="45720"/>
                </a:tc>
              </a:tr>
              <a:tr h="2057400">
                <a:tc>
                  <a:txBody>
                    <a:bodyPr/>
                    <a:lstStyle/>
                    <a:p>
                      <a:pPr algn="ctr">
                        <a:defRPr sz="1100">
                          <a:latin typeface="맑은 고딕"/>
                        </a:defRPr>
                      </a:pPr>
                      <a:r>
                        <a:t>검사 사양</a:t>
                      </a:r>
                    </a:p>
                  </a:txBody>
                  <a:tcPr marL="45720" marR="45720"/>
                </a:tc>
                <a:tc>
                  <a:txBody>
                    <a:bodyPr/>
                    <a:lstStyle/>
                    <a:p>
                      <a:pPr>
                        <a:defRPr sz="1100">
                          <a:latin typeface="맑은 고딕"/>
                        </a:defRPr>
                      </a:pPr>
                      <a:r>
                        <a:t>면저항 측정 범위</a:t>
                      </a:r>
                    </a:p>
                  </a:txBody>
                  <a:tcPr marL="45720" marR="45720"/>
                </a:tc>
                <a:tc>
                  <a:txBody>
                    <a:bodyPr/>
                    <a:lstStyle/>
                    <a:p>
                      <a:pPr>
                        <a:defRPr sz="1100">
                          <a:latin typeface="맑은 고딕"/>
                        </a:defRPr>
                      </a:pPr>
                      <a:r>
                        <a:t>0.1 ~ 1000 Ω/sq</a:t>
                      </a:r>
                    </a:p>
                  </a:txBody>
                  <a:tcPr marL="45720" marR="45720"/>
                </a:tc>
                <a:tc>
                  <a:txBody>
                    <a:bodyPr/>
                    <a:lstStyle/>
                    <a:p>
                      <a:pPr>
                        <a:defRPr sz="1100">
                          <a:latin typeface="맑은 고딕"/>
                        </a:defRPr>
                      </a:pPr>
                      <a:r>
                        <a:t>측정 정밀도 ±2%</a:t>
                      </a:r>
                    </a:p>
                  </a:txBody>
                  <a:tcPr marL="45720" marR="45720"/>
                </a:tc>
              </a:tr>
              <a:tr h="2057400">
                <a:tc>
                  <a:txBody>
                    <a:bodyPr/>
                    <a:lstStyle/>
                    <a:p>
                      <a:pPr algn="ctr">
                        <a:defRPr sz="1100">
                          <a:latin typeface="맑은 고딕"/>
                        </a:defRPr>
                      </a:pPr>
                      <a:r>
                        <a:t>검사 사양</a:t>
                      </a:r>
                    </a:p>
                  </a:txBody>
                  <a:tcPr marL="45720" marR="45720"/>
                </a:tc>
                <a:tc>
                  <a:txBody>
                    <a:bodyPr/>
                    <a:lstStyle/>
                    <a:p>
                      <a:pPr>
                        <a:defRPr sz="1100">
                          <a:latin typeface="맑은 고딕"/>
                        </a:defRPr>
                      </a:pPr>
                      <a:r>
                        <a:t>측정 방식</a:t>
                      </a:r>
                    </a:p>
                  </a:txBody>
                  <a:tcPr marL="45720" marR="45720"/>
                </a:tc>
                <a:tc>
                  <a:txBody>
                    <a:bodyPr/>
                    <a:lstStyle/>
                    <a:p>
                      <a:pPr>
                        <a:defRPr sz="1100">
                          <a:latin typeface="맑은 고딕"/>
                        </a:defRPr>
                      </a:pPr>
                      <a:r>
                        <a:t>4-Point Probe / 와전류 방식</a:t>
                      </a:r>
                    </a:p>
                  </a:txBody>
                  <a:tcPr marL="45720" marR="45720"/>
                </a:tc>
                <a:tc>
                  <a:txBody>
                    <a:bodyPr/>
                    <a:lstStyle/>
                    <a:p>
                      <a:pPr>
                        <a:defRPr sz="1100">
                          <a:latin typeface="맑은 고딕"/>
                        </a:defRPr>
                      </a:pPr>
                      <a:r>
                        <a:t>접촉식·비접촉식 겸용 옵션</a:t>
                      </a:r>
                    </a:p>
                  </a:txBody>
                  <a:tcPr marL="45720" marR="45720"/>
                </a:tc>
              </a:tr>
              <a:tr h="2057400">
                <a:tc>
                  <a:txBody>
                    <a:bodyPr/>
                    <a:lstStyle/>
                    <a:p>
                      <a:pPr algn="ctr">
                        <a:defRPr sz="1100">
                          <a:latin typeface="맑은 고딕"/>
                        </a:defRPr>
                      </a:pPr>
                      <a:r>
                        <a:t>치수/중량</a:t>
                      </a:r>
                    </a:p>
                  </a:txBody>
                  <a:tcPr marL="45720" marR="45720"/>
                </a:tc>
                <a:tc>
                  <a:txBody>
                    <a:bodyPr/>
                    <a:lstStyle/>
                    <a:p>
                      <a:pPr>
                        <a:defRPr sz="1100">
                          <a:latin typeface="맑은 고딕"/>
                        </a:defRPr>
                      </a:pPr>
                      <a:r>
                        <a:t>설비 크기</a:t>
                      </a:r>
                    </a:p>
                  </a:txBody>
                  <a:tcPr marL="45720" marR="45720"/>
                </a:tc>
                <a:tc>
                  <a:txBody>
                    <a:bodyPr/>
                    <a:lstStyle/>
                    <a:p>
                      <a:pPr>
                        <a:defRPr sz="1100">
                          <a:latin typeface="맑은 고딕"/>
                        </a:defRPr>
                      </a:pPr>
                      <a:r>
                        <a:t>1600(W) x 1100(D) x 1800(H) mm</a:t>
                      </a:r>
                    </a:p>
                  </a:txBody>
                  <a:tcPr marL="45720" marR="45720"/>
                </a:tc>
                <a:tc>
                  <a:txBody>
                    <a:bodyPr/>
                    <a:lstStyle/>
                    <a:p>
                      <a:pPr>
                        <a:defRPr sz="1100">
                          <a:latin typeface="맑은 고딕"/>
                        </a:defRPr>
                      </a:pPr>
                      <a:r>
                        <a:t>압연 라인 후단 설치</a:t>
                      </a:r>
                    </a:p>
                  </a:txBody>
                  <a:tcPr marL="45720" marR="45720"/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